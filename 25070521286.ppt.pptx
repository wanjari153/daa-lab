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7ef07160-548a-f607-279b-45492d552e6c}">
          <p14:sldIdLst>
            <p14:sldId id="256"/>
            <p14:sldId id="257"/>
          </p14:sldIdLst>
        </p14:section>
        <p14:section name="Loop patterns" id="{95067fa7-b10c-44d2-2afe-4a8c8ae0e1ce}">
          <p14:sldIdLst>
            <p14:sldId id="258"/>
            <p14:sldId id="259"/>
            <p14:sldId id="260"/>
            <p14:sldId id="261"/>
            <p14:sldId id="262"/>
          </p14:sldIdLst>
        </p14:section>
        <p14:section name="Wrap-up" id="{41417770-3fca-b55c-7004-15ac03078dd8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93B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E293B"/>
                </a:solidFill>
                <a:latin typeface="+mn-lt"/>
              </a:rPr>
              <a:t>Operations vs input size n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log n</c:v>
                </c:pt>
              </c:strCache>
            </c:strRef>
          </c:tx>
          <c:spPr>
            <a:solidFill>
              <a:srgbClr val="14B8A6"/>
            </a:solidFill>
            <a:ln w="38100" cap="flat">
              <a:solidFill>
                <a:srgbClr val="14B8A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14B8A6"/>
              </a:solidFill>
              <a:ln w="9525" cap="flat">
                <a:solidFill>
                  <a:srgbClr val="14B8A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</c:v>
                </c:pt>
                <c:pt idx="1">
                  <c:v>1</c:v>
                </c:pt>
                <c:pt idx="2">
                  <c:v>1.58</c:v>
                </c:pt>
                <c:pt idx="3">
                  <c:v>2</c:v>
                </c:pt>
                <c:pt idx="4">
                  <c:v>2.32</c:v>
                </c:pt>
                <c:pt idx="5">
                  <c:v>2.58</c:v>
                </c:pt>
                <c:pt idx="6">
                  <c:v>2.81</c:v>
                </c:pt>
                <c:pt idx="7">
                  <c:v>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</c:v>
                </c:pt>
              </c:strCache>
            </c:strRef>
          </c:tx>
          <c:spPr>
            <a:solidFill>
              <a:srgbClr val="22C55E"/>
            </a:solidFill>
            <a:ln w="38100" cap="flat">
              <a:solidFill>
                <a:srgbClr val="22C55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22C55E"/>
              </a:solidFill>
              <a:ln w="9525" cap="flat">
                <a:solidFill>
                  <a:srgbClr val="22C55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 log n</c:v>
                </c:pt>
              </c:strCache>
            </c:strRef>
          </c:tx>
          <c:spPr>
            <a:solidFill>
              <a:srgbClr val="6366F1"/>
            </a:solidFill>
            <a:ln w="38100" cap="flat">
              <a:solidFill>
                <a:srgbClr val="6366F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6366F1"/>
              </a:solidFill>
              <a:ln w="9525" cap="flat">
                <a:solidFill>
                  <a:srgbClr val="6366F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</c:lvl>
              </c:multiLvlStrCache>
            </c:multiLvl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0</c:v>
                </c:pt>
                <c:pt idx="1">
                  <c:v>2</c:v>
                </c:pt>
                <c:pt idx="2">
                  <c:v>4.8</c:v>
                </c:pt>
                <c:pt idx="3">
                  <c:v>8</c:v>
                </c:pt>
                <c:pt idx="4">
                  <c:v>11.6</c:v>
                </c:pt>
                <c:pt idx="5">
                  <c:v>15.5</c:v>
                </c:pt>
                <c:pt idx="6">
                  <c:v>19.7</c:v>
                </c:pt>
                <c:pt idx="7">
                  <c:v>24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n²</c:v>
                </c:pt>
              </c:strCache>
            </c:strRef>
          </c:tx>
          <c:spPr>
            <a:solidFill>
              <a:srgbClr val="F59E0B"/>
            </a:solidFill>
            <a:ln w="38100" cap="flat">
              <a:solidFill>
                <a:srgbClr val="F59E0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</c:lvl>
              </c:multiLvlStrCache>
            </c:multiLvlStrRef>
          </c:cat>
          <c:val>
            <c:numRef>
              <c:f>Sheet1!$E$2:$E$9</c:f>
              <c:numCache>
                <c:formatCode>General</c:formatCode>
                <c:ptCount val="8"/>
                <c:pt idx="0">
                  <c:v>1</c:v>
                </c:pt>
                <c:pt idx="1">
                  <c:v>4</c:v>
                </c:pt>
                <c:pt idx="2">
                  <c:v>9</c:v>
                </c:pt>
                <c:pt idx="3">
                  <c:v>16</c:v>
                </c:pt>
                <c:pt idx="4">
                  <c:v>25</c:v>
                </c:pt>
                <c:pt idx="5">
                  <c:v>36</c:v>
                </c:pt>
                <c:pt idx="6">
                  <c:v>49</c:v>
                </c:pt>
                <c:pt idx="7">
                  <c:v>64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E293B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idea: we want to predict how running time grows as input size n grows, by counting how many times loop bodies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Complexity is about growth rate. Loops are where most growth comes from.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through: the body executes n times, each costs constant time. Constants like the step size do not change the order of growth.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dot is one execution of the inner body. 5 x 5 = 25 here; for n = 1000 that is a million.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Halving (i /= 2) behaves the same way. Binary search is the classic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Dependent loops: the inner bound changes, so sum the series. Consecutive loops: add, then keep the dominant term.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gap widens quickly. At a million items, the quadratic loop is the difference between a millisecond and many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the cheat sheet and the three-step habit: count, combine, simplify.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188720"/>
            <a:ext cx="493776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108960"/>
            <a:ext cx="45720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DARK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18872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Time Complexity Analysis of Loops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10896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Counting iterations to predict how code scales</a:t>
            </a:r>
            <a:endParaRPr lang="en-US" sz="1800" dirty="0"/>
          </a:p>
        </p:txBody>
      </p:sp>
      <p:sp>
        <p:nvSpPr>
          <p:cNvPr id="4" name="pill O(1)"/>
          <p:cNvSpPr/>
          <p:nvPr/>
        </p:nvSpPr>
        <p:spPr>
          <a:xfrm>
            <a:off x="5669280" y="822960"/>
            <a:ext cx="2560320" cy="731520"/>
          </a:xfrm>
          <a:prstGeom prst="roundRect">
            <a:avLst>
              <a:gd name="adj" fmla="val 18750"/>
            </a:avLst>
          </a:prstGeom>
          <a:solidFill>
            <a:schemeClr val="tx2"/>
          </a:solidFill>
          <a:ln w="25400">
            <a:solidFill>
              <a:schemeClr val="accent6"/>
            </a:solidFill>
            <a:prstDash val="solid"/>
          </a:ln>
        </p:spPr>
      </p:sp>
      <p:sp>
        <p:nvSpPr>
          <p:cNvPr id="5" name="pill label O(1)"/>
          <p:cNvSpPr txBox="1"/>
          <p:nvPr/>
        </p:nvSpPr>
        <p:spPr>
          <a:xfrm>
            <a:off x="5669280" y="8229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O(1)</a:t>
            </a:r>
            <a:endParaRPr lang="en-US" sz="2400" dirty="0"/>
          </a:p>
        </p:txBody>
      </p:sp>
      <p:sp>
        <p:nvSpPr>
          <p:cNvPr id="6" name="pill O(log n)"/>
          <p:cNvSpPr/>
          <p:nvPr/>
        </p:nvSpPr>
        <p:spPr>
          <a:xfrm>
            <a:off x="5852160" y="1737360"/>
            <a:ext cx="2560320" cy="731520"/>
          </a:xfrm>
          <a:prstGeom prst="roundRect">
            <a:avLst>
              <a:gd name="adj" fmla="val 18750"/>
            </a:avLst>
          </a:prstGeom>
          <a:solidFill>
            <a:schemeClr val="tx2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7" name="pill label O(log n)"/>
          <p:cNvSpPr txBox="1"/>
          <p:nvPr/>
        </p:nvSpPr>
        <p:spPr>
          <a:xfrm>
            <a:off x="5852160" y="17373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O(log n)</a:t>
            </a:r>
            <a:endParaRPr lang="en-US" sz="2400" dirty="0"/>
          </a:p>
        </p:txBody>
      </p:sp>
      <p:sp>
        <p:nvSpPr>
          <p:cNvPr id="8" name="pill O(n)"/>
          <p:cNvSpPr/>
          <p:nvPr/>
        </p:nvSpPr>
        <p:spPr>
          <a:xfrm>
            <a:off x="6035040" y="2651760"/>
            <a:ext cx="2560320" cy="731520"/>
          </a:xfrm>
          <a:prstGeom prst="roundRect">
            <a:avLst>
              <a:gd name="adj" fmla="val 18750"/>
            </a:avLst>
          </a:prstGeom>
          <a:solidFill>
            <a:schemeClr val="tx2"/>
          </a:solidFill>
          <a:ln w="25400">
            <a:solidFill>
              <a:schemeClr val="accent5"/>
            </a:solidFill>
            <a:prstDash val="solid"/>
          </a:ln>
        </p:spPr>
      </p:sp>
      <p:sp>
        <p:nvSpPr>
          <p:cNvPr id="9" name="pill label O(n)"/>
          <p:cNvSpPr txBox="1"/>
          <p:nvPr/>
        </p:nvSpPr>
        <p:spPr>
          <a:xfrm>
            <a:off x="6035040" y="26517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O(n)</a:t>
            </a:r>
            <a:endParaRPr lang="en-US" sz="2400" dirty="0"/>
          </a:p>
        </p:txBody>
      </p:sp>
      <p:sp>
        <p:nvSpPr>
          <p:cNvPr id="10" name="pill O(n²)"/>
          <p:cNvSpPr/>
          <p:nvPr/>
        </p:nvSpPr>
        <p:spPr>
          <a:xfrm>
            <a:off x="6217920" y="3566160"/>
            <a:ext cx="2560320" cy="731520"/>
          </a:xfrm>
          <a:prstGeom prst="roundRect">
            <a:avLst>
              <a:gd name="adj" fmla="val 18750"/>
            </a:avLst>
          </a:prstGeom>
          <a:solidFill>
            <a:schemeClr val="tx2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11" name="pill label O(n²)"/>
          <p:cNvSpPr txBox="1"/>
          <p:nvPr/>
        </p:nvSpPr>
        <p:spPr>
          <a:xfrm>
            <a:off x="6217920" y="35661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O(n²)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Why Loop Analysis Matters</a:t>
            </a:r>
            <a:endParaRPr lang="en-US" sz="3400" dirty="0"/>
          </a:p>
        </p:txBody>
      </p:sp>
      <p:sp>
        <p:nvSpPr>
          <p:cNvPr id="3" name="card 1"/>
          <p:cNvSpPr/>
          <p:nvPr/>
        </p:nvSpPr>
        <p:spPr>
          <a:xfrm>
            <a:off x="548640" y="1463040"/>
            <a:ext cx="2468880" cy="2926080"/>
          </a:xfrm>
          <a:prstGeom prst="roundRect">
            <a:avLst>
              <a:gd name="adj" fmla="val 37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icon circle 1"/>
          <p:cNvSpPr/>
          <p:nvPr/>
        </p:nvSpPr>
        <p:spPr>
          <a:xfrm>
            <a:off x="822960" y="173736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Count steps, not second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920240"/>
            <a:ext cx="365760" cy="365760"/>
          </a:xfrm>
          <a:prstGeom prst="rect">
            <a:avLst/>
          </a:prstGeom>
        </p:spPr>
      </p:pic>
      <p:sp>
        <p:nvSpPr>
          <p:cNvPr id="6" name="card head 1"/>
          <p:cNvSpPr txBox="1"/>
          <p:nvPr/>
        </p:nvSpPr>
        <p:spPr>
          <a:xfrm>
            <a:off x="822960" y="26517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Count steps, not seconds</a:t>
            </a:r>
            <a:endParaRPr lang="en-US" sz="1800" dirty="0"/>
          </a:p>
        </p:txBody>
      </p:sp>
      <p:sp>
        <p:nvSpPr>
          <p:cNvPr id="7" name="card body 1"/>
          <p:cNvSpPr txBox="1"/>
          <p:nvPr/>
        </p:nvSpPr>
        <p:spPr>
          <a:xfrm>
            <a:off x="822960" y="3246120"/>
            <a:ext cx="1965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Time complexity measures how the number of operations grows with input size n.</a:t>
            </a:r>
            <a:endParaRPr lang="en-US" sz="1400" dirty="0"/>
          </a:p>
        </p:txBody>
      </p:sp>
      <p:sp>
        <p:nvSpPr>
          <p:cNvPr id="8" name="card 2"/>
          <p:cNvSpPr/>
          <p:nvPr/>
        </p:nvSpPr>
        <p:spPr>
          <a:xfrm>
            <a:off x="3291840" y="1463040"/>
            <a:ext cx="2468880" cy="2926080"/>
          </a:xfrm>
          <a:prstGeom prst="roundRect">
            <a:avLst>
              <a:gd name="adj" fmla="val 37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icon circle 2"/>
          <p:cNvSpPr/>
          <p:nvPr/>
        </p:nvSpPr>
        <p:spPr>
          <a:xfrm>
            <a:off x="3566160" y="1737360"/>
            <a:ext cx="731520" cy="7315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0" name="Image 1" descr="Loops drive the cos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1920240"/>
            <a:ext cx="365760" cy="365760"/>
          </a:xfrm>
          <a:prstGeom prst="rect">
            <a:avLst/>
          </a:prstGeom>
        </p:spPr>
      </p:pic>
      <p:sp>
        <p:nvSpPr>
          <p:cNvPr id="11" name="card head 2"/>
          <p:cNvSpPr txBox="1"/>
          <p:nvPr/>
        </p:nvSpPr>
        <p:spPr>
          <a:xfrm>
            <a:off x="3566160" y="26517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Loops drive the cost</a:t>
            </a:r>
            <a:endParaRPr lang="en-US" sz="1800" dirty="0"/>
          </a:p>
        </p:txBody>
      </p:sp>
      <p:sp>
        <p:nvSpPr>
          <p:cNvPr id="12" name="card body 2"/>
          <p:cNvSpPr txBox="1"/>
          <p:nvPr/>
        </p:nvSpPr>
        <p:spPr>
          <a:xfrm>
            <a:off x="3566160" y="3246120"/>
            <a:ext cx="1965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Most running time comes from loops, so counting their iterations is the core skill.</a:t>
            </a:r>
            <a:endParaRPr lang="en-US" sz="1400" dirty="0"/>
          </a:p>
        </p:txBody>
      </p:sp>
      <p:sp>
        <p:nvSpPr>
          <p:cNvPr id="13" name="card 3"/>
          <p:cNvSpPr/>
          <p:nvPr/>
        </p:nvSpPr>
        <p:spPr>
          <a:xfrm>
            <a:off x="6035040" y="1463040"/>
            <a:ext cx="2468880" cy="2926080"/>
          </a:xfrm>
          <a:prstGeom prst="roundRect">
            <a:avLst>
              <a:gd name="adj" fmla="val 37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icon circle 3"/>
          <p:cNvSpPr/>
          <p:nvPr/>
        </p:nvSpPr>
        <p:spPr>
          <a:xfrm>
            <a:off x="6309360" y="173736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5" name="Image 2" descr="Big-O keeps what matter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920240"/>
            <a:ext cx="365760" cy="365760"/>
          </a:xfrm>
          <a:prstGeom prst="rect">
            <a:avLst/>
          </a:prstGeom>
        </p:spPr>
      </p:pic>
      <p:sp>
        <p:nvSpPr>
          <p:cNvPr id="16" name="card head 3"/>
          <p:cNvSpPr txBox="1"/>
          <p:nvPr/>
        </p:nvSpPr>
        <p:spPr>
          <a:xfrm>
            <a:off x="6309360" y="26517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Big-O keeps what matters</a:t>
            </a:r>
            <a:endParaRPr lang="en-US" sz="1800" dirty="0"/>
          </a:p>
        </p:txBody>
      </p:sp>
      <p:sp>
        <p:nvSpPr>
          <p:cNvPr id="17" name="card body 3"/>
          <p:cNvSpPr txBox="1"/>
          <p:nvPr/>
        </p:nvSpPr>
        <p:spPr>
          <a:xfrm>
            <a:off x="6309360" y="3246120"/>
            <a:ext cx="1965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Keep the dominant term and drop constants: 3n + 5 becomes O(n).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Single Loop: Linear Time</a:t>
            </a:r>
            <a:endParaRPr lang="en-US" sz="3400" dirty="0"/>
          </a:p>
        </p:txBody>
      </p:sp>
      <p:sp>
        <p:nvSpPr>
          <p:cNvPr id="3" name="code single loop box"/>
          <p:cNvSpPr/>
          <p:nvPr/>
        </p:nvSpPr>
        <p:spPr>
          <a:xfrm>
            <a:off x="548640" y="1371600"/>
            <a:ext cx="4937760" cy="182880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code single loop"/>
          <p:cNvSpPr txBox="1"/>
          <p:nvPr/>
        </p:nvSpPr>
        <p:spPr>
          <a:xfrm>
            <a:off x="731520" y="1463040"/>
            <a:ext cx="4572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sum = 0;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0; i &lt; n; i++)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sum += i;   // runs n times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5" name="explanation"/>
          <p:cNvSpPr txBox="1"/>
          <p:nvPr/>
        </p:nvSpPr>
        <p:spPr>
          <a:xfrm>
            <a:off x="548640" y="347472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Cost = n iterations × constant work = O(n)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A step of 2 (i += 2) runs n/2 times, which is still O(n).</a:t>
            </a:r>
            <a:endParaRPr lang="en-US" sz="1600" dirty="0"/>
          </a:p>
        </p:txBody>
      </p:sp>
      <p:sp>
        <p:nvSpPr>
          <p:cNvPr id="6" name="callout card"/>
          <p:cNvSpPr/>
          <p:nvPr/>
        </p:nvSpPr>
        <p:spPr>
          <a:xfrm>
            <a:off x="5852160" y="1371600"/>
            <a:ext cx="2743200" cy="2377440"/>
          </a:xfrm>
          <a:prstGeom prst="roundRect">
            <a:avLst>
              <a:gd name="adj" fmla="val 384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7" name="callout value"/>
          <p:cNvSpPr txBox="1"/>
          <p:nvPr/>
        </p:nvSpPr>
        <p:spPr>
          <a:xfrm>
            <a:off x="5852160" y="16002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O(n)</a:t>
            </a:r>
            <a:endParaRPr lang="en-US" sz="5400" dirty="0"/>
          </a:p>
        </p:txBody>
      </p:sp>
      <p:sp>
        <p:nvSpPr>
          <p:cNvPr id="8" name="callout label"/>
          <p:cNvSpPr txBox="1"/>
          <p:nvPr/>
        </p:nvSpPr>
        <p:spPr>
          <a:xfrm>
            <a:off x="6035040" y="2750515"/>
            <a:ext cx="237744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Doubling n doubles the work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Nested Loops: Quadratic Time</a:t>
            </a:r>
            <a:endParaRPr lang="en-US" sz="3400" dirty="0"/>
          </a:p>
        </p:txBody>
      </p:sp>
      <p:sp>
        <p:nvSpPr>
          <p:cNvPr id="3" name="code nested loop box"/>
          <p:cNvSpPr/>
          <p:nvPr/>
        </p:nvSpPr>
        <p:spPr>
          <a:xfrm>
            <a:off x="548640" y="1371600"/>
            <a:ext cx="4937760" cy="1737360"/>
          </a:xfrm>
          <a:prstGeom prst="roundRect">
            <a:avLst>
              <a:gd name="adj" fmla="val 526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code nested loop"/>
          <p:cNvSpPr txBox="1"/>
          <p:nvPr/>
        </p:nvSpPr>
        <p:spPr>
          <a:xfrm>
            <a:off x="731520" y="146304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0; i &lt; n; i++)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(int j = 0; j &lt; n; j++)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count++;  // n × n times</a:t>
            </a:r>
            <a:endParaRPr lang="en-US" sz="1400" dirty="0"/>
          </a:p>
        </p:txBody>
      </p:sp>
      <p:sp>
        <p:nvSpPr>
          <p:cNvPr id="5" name="explanation"/>
          <p:cNvSpPr txBox="1"/>
          <p:nvPr/>
        </p:nvSpPr>
        <p:spPr>
          <a:xfrm>
            <a:off x="548640" y="338328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Outer: n times. Inner: n times per outer pass.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Total = n × n = n²  →  O(n²)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Three nested loops to n give O(n³).</a:t>
            </a:r>
            <a:endParaRPr lang="en-US" sz="1600" dirty="0"/>
          </a:p>
        </p:txBody>
      </p:sp>
      <p:sp>
        <p:nvSpPr>
          <p:cNvPr id="6" name="dot 0-0"/>
          <p:cNvSpPr/>
          <p:nvPr/>
        </p:nvSpPr>
        <p:spPr>
          <a:xfrm>
            <a:off x="6126480" y="1463040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7" name="dot 0-1"/>
          <p:cNvSpPr/>
          <p:nvPr/>
        </p:nvSpPr>
        <p:spPr>
          <a:xfrm>
            <a:off x="6583680" y="1463040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8" name="dot 0-2"/>
          <p:cNvSpPr/>
          <p:nvPr/>
        </p:nvSpPr>
        <p:spPr>
          <a:xfrm>
            <a:off x="7040880" y="1463040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9" name="dot 0-3"/>
          <p:cNvSpPr/>
          <p:nvPr/>
        </p:nvSpPr>
        <p:spPr>
          <a:xfrm>
            <a:off x="7498080" y="1463040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dot 0-4"/>
          <p:cNvSpPr/>
          <p:nvPr/>
        </p:nvSpPr>
        <p:spPr>
          <a:xfrm>
            <a:off x="7955280" y="1463040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1" name="dot 1-0"/>
          <p:cNvSpPr/>
          <p:nvPr/>
        </p:nvSpPr>
        <p:spPr>
          <a:xfrm>
            <a:off x="6126480" y="1920240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2" name="dot 1-1"/>
          <p:cNvSpPr/>
          <p:nvPr/>
        </p:nvSpPr>
        <p:spPr>
          <a:xfrm>
            <a:off x="6583680" y="1920240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3" name="dot 1-2"/>
          <p:cNvSpPr/>
          <p:nvPr/>
        </p:nvSpPr>
        <p:spPr>
          <a:xfrm>
            <a:off x="7040880" y="1920240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4" name="dot 1-3"/>
          <p:cNvSpPr/>
          <p:nvPr/>
        </p:nvSpPr>
        <p:spPr>
          <a:xfrm>
            <a:off x="7498080" y="1920240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5" name="dot 1-4"/>
          <p:cNvSpPr/>
          <p:nvPr/>
        </p:nvSpPr>
        <p:spPr>
          <a:xfrm>
            <a:off x="7955280" y="1920240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6" name="dot 2-0"/>
          <p:cNvSpPr/>
          <p:nvPr/>
        </p:nvSpPr>
        <p:spPr>
          <a:xfrm>
            <a:off x="6126480" y="2377440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7" name="dot 2-1"/>
          <p:cNvSpPr/>
          <p:nvPr/>
        </p:nvSpPr>
        <p:spPr>
          <a:xfrm>
            <a:off x="6583680" y="2377440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8" name="dot 2-2"/>
          <p:cNvSpPr/>
          <p:nvPr/>
        </p:nvSpPr>
        <p:spPr>
          <a:xfrm>
            <a:off x="7040880" y="2377440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9" name="dot 2-3"/>
          <p:cNvSpPr/>
          <p:nvPr/>
        </p:nvSpPr>
        <p:spPr>
          <a:xfrm>
            <a:off x="7498080" y="2377440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0" name="dot 2-4"/>
          <p:cNvSpPr/>
          <p:nvPr/>
        </p:nvSpPr>
        <p:spPr>
          <a:xfrm>
            <a:off x="7955280" y="2377440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1" name="dot 3-0"/>
          <p:cNvSpPr/>
          <p:nvPr/>
        </p:nvSpPr>
        <p:spPr>
          <a:xfrm>
            <a:off x="6126480" y="2834640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2" name="dot 3-1"/>
          <p:cNvSpPr/>
          <p:nvPr/>
        </p:nvSpPr>
        <p:spPr>
          <a:xfrm>
            <a:off x="6583680" y="2834640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3" name="dot 3-2"/>
          <p:cNvSpPr/>
          <p:nvPr/>
        </p:nvSpPr>
        <p:spPr>
          <a:xfrm>
            <a:off x="7040880" y="2834640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4" name="dot 3-3"/>
          <p:cNvSpPr/>
          <p:nvPr/>
        </p:nvSpPr>
        <p:spPr>
          <a:xfrm>
            <a:off x="7498080" y="2834640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5" name="dot 3-4"/>
          <p:cNvSpPr/>
          <p:nvPr/>
        </p:nvSpPr>
        <p:spPr>
          <a:xfrm>
            <a:off x="7955280" y="2834640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6" name="dot 4-0"/>
          <p:cNvSpPr/>
          <p:nvPr/>
        </p:nvSpPr>
        <p:spPr>
          <a:xfrm>
            <a:off x="6126480" y="3291840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7" name="dot 4-1"/>
          <p:cNvSpPr/>
          <p:nvPr/>
        </p:nvSpPr>
        <p:spPr>
          <a:xfrm>
            <a:off x="6583680" y="3291840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8" name="dot 4-2"/>
          <p:cNvSpPr/>
          <p:nvPr/>
        </p:nvSpPr>
        <p:spPr>
          <a:xfrm>
            <a:off x="7040880" y="3291840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9" name="dot 4-3"/>
          <p:cNvSpPr/>
          <p:nvPr/>
        </p:nvSpPr>
        <p:spPr>
          <a:xfrm>
            <a:off x="7498080" y="3291840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0" name="dot 4-4"/>
          <p:cNvSpPr/>
          <p:nvPr/>
        </p:nvSpPr>
        <p:spPr>
          <a:xfrm>
            <a:off x="7955280" y="3291840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1" name="grid caption"/>
          <p:cNvSpPr txBox="1"/>
          <p:nvPr/>
        </p:nvSpPr>
        <p:spPr>
          <a:xfrm>
            <a:off x="5943600" y="38404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n × n grid = n² iterations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Multiplying Counters: Logarithmic</a:t>
            </a:r>
            <a:endParaRPr lang="en-US" sz="3400" dirty="0"/>
          </a:p>
        </p:txBody>
      </p:sp>
      <p:sp>
        <p:nvSpPr>
          <p:cNvPr id="3" name="code log loop box"/>
          <p:cNvSpPr/>
          <p:nvPr/>
        </p:nvSpPr>
        <p:spPr>
          <a:xfrm>
            <a:off x="548640" y="1371600"/>
            <a:ext cx="4937760" cy="1463040"/>
          </a:xfrm>
          <a:prstGeom prst="roundRect">
            <a:avLst>
              <a:gd name="adj" fmla="val 625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code log loop"/>
          <p:cNvSpPr txBox="1"/>
          <p:nvPr/>
        </p:nvSpPr>
        <p:spPr>
          <a:xfrm>
            <a:off x="731520" y="146304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1; i &lt; n; i *= 2)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work();  // i = 1, 2, 4, 8, ...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5" name="callout card"/>
          <p:cNvSpPr/>
          <p:nvPr/>
        </p:nvSpPr>
        <p:spPr>
          <a:xfrm>
            <a:off x="5852160" y="1371600"/>
            <a:ext cx="2743200" cy="2011680"/>
          </a:xfrm>
          <a:prstGeom prst="roundRect">
            <a:avLst>
              <a:gd name="adj" fmla="val 4545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6" name="callout value"/>
          <p:cNvSpPr txBox="1"/>
          <p:nvPr/>
        </p:nvSpPr>
        <p:spPr>
          <a:xfrm>
            <a:off x="5852160" y="160020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O(log n)</a:t>
            </a:r>
            <a:endParaRPr lang="en-US" sz="4000" dirty="0"/>
          </a:p>
        </p:txBody>
      </p:sp>
      <p:sp>
        <p:nvSpPr>
          <p:cNvPr id="7" name="callout label"/>
          <p:cNvSpPr txBox="1"/>
          <p:nvPr/>
        </p:nvSpPr>
        <p:spPr>
          <a:xfrm>
            <a:off x="6035040" y="2538374"/>
            <a:ext cx="23774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i doubles each pass, so the loop stops after log₂ n passes</a:t>
            </a:r>
            <a:endParaRPr lang="en-US" sz="1400" dirty="0"/>
          </a:p>
        </p:txBody>
      </p:sp>
      <p:sp>
        <p:nvSpPr>
          <p:cNvPr id="8" name="trace label"/>
          <p:cNvSpPr txBox="1"/>
          <p:nvPr/>
        </p:nvSpPr>
        <p:spPr>
          <a:xfrm>
            <a:off x="548640" y="3246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Trace for n = 16</a:t>
            </a:r>
            <a:endParaRPr lang="en-US" sz="1400" dirty="0"/>
          </a:p>
        </p:txBody>
      </p:sp>
      <p:sp>
        <p:nvSpPr>
          <p:cNvPr id="9" name="chip 1"/>
          <p:cNvSpPr/>
          <p:nvPr/>
        </p:nvSpPr>
        <p:spPr>
          <a:xfrm>
            <a:off x="548640" y="3657600"/>
            <a:ext cx="822960" cy="640080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chip label 1"/>
          <p:cNvSpPr txBox="1"/>
          <p:nvPr/>
        </p:nvSpPr>
        <p:spPr>
          <a:xfrm>
            <a:off x="548640" y="365760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i=1</a:t>
            </a:r>
            <a:endParaRPr lang="en-US" sz="1400" dirty="0"/>
          </a:p>
        </p:txBody>
      </p:sp>
      <p:sp>
        <p:nvSpPr>
          <p:cNvPr id="11" name="arrow 0"/>
          <p:cNvSpPr txBox="1"/>
          <p:nvPr/>
        </p:nvSpPr>
        <p:spPr>
          <a:xfrm>
            <a:off x="1371600" y="365760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chip 2"/>
          <p:cNvSpPr/>
          <p:nvPr/>
        </p:nvSpPr>
        <p:spPr>
          <a:xfrm>
            <a:off x="1691640" y="3657600"/>
            <a:ext cx="822960" cy="640080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chip label 2"/>
          <p:cNvSpPr txBox="1"/>
          <p:nvPr/>
        </p:nvSpPr>
        <p:spPr>
          <a:xfrm>
            <a:off x="1691640" y="365760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i=2</a:t>
            </a:r>
            <a:endParaRPr lang="en-US" sz="1400" dirty="0"/>
          </a:p>
        </p:txBody>
      </p:sp>
      <p:sp>
        <p:nvSpPr>
          <p:cNvPr id="14" name="arrow 1"/>
          <p:cNvSpPr txBox="1"/>
          <p:nvPr/>
        </p:nvSpPr>
        <p:spPr>
          <a:xfrm>
            <a:off x="2514600" y="365760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chip 4"/>
          <p:cNvSpPr/>
          <p:nvPr/>
        </p:nvSpPr>
        <p:spPr>
          <a:xfrm>
            <a:off x="2834640" y="3657600"/>
            <a:ext cx="822960" cy="640080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chip label 4"/>
          <p:cNvSpPr txBox="1"/>
          <p:nvPr/>
        </p:nvSpPr>
        <p:spPr>
          <a:xfrm>
            <a:off x="2834640" y="365760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i=4</a:t>
            </a:r>
            <a:endParaRPr lang="en-US" sz="1400" dirty="0"/>
          </a:p>
        </p:txBody>
      </p:sp>
      <p:sp>
        <p:nvSpPr>
          <p:cNvPr id="17" name="arrow 2"/>
          <p:cNvSpPr txBox="1"/>
          <p:nvPr/>
        </p:nvSpPr>
        <p:spPr>
          <a:xfrm>
            <a:off x="3657600" y="365760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chip 8"/>
          <p:cNvSpPr/>
          <p:nvPr/>
        </p:nvSpPr>
        <p:spPr>
          <a:xfrm>
            <a:off x="3977640" y="3657600"/>
            <a:ext cx="822960" cy="640080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chip label 8"/>
          <p:cNvSpPr txBox="1"/>
          <p:nvPr/>
        </p:nvSpPr>
        <p:spPr>
          <a:xfrm>
            <a:off x="3977640" y="365760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i=8</a:t>
            </a:r>
            <a:endParaRPr lang="en-US" sz="1400" dirty="0"/>
          </a:p>
        </p:txBody>
      </p:sp>
      <p:sp>
        <p:nvSpPr>
          <p:cNvPr id="20" name="trace result"/>
          <p:cNvSpPr txBox="1"/>
          <p:nvPr/>
        </p:nvSpPr>
        <p:spPr>
          <a:xfrm>
            <a:off x="5120640" y="36576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4 passes = log₂ 16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Dependent and Consecutive Loops</a:t>
            </a:r>
            <a:endParaRPr lang="en-US" sz="3400" dirty="0"/>
          </a:p>
        </p:txBody>
      </p:sp>
      <p:sp>
        <p:nvSpPr>
          <p:cNvPr id="3" name="column card 1"/>
          <p:cNvSpPr/>
          <p:nvPr/>
        </p:nvSpPr>
        <p:spPr>
          <a:xfrm>
            <a:off x="548640" y="1371600"/>
            <a:ext cx="3931920" cy="320040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olumn head 1"/>
          <p:cNvSpPr txBox="1"/>
          <p:nvPr/>
        </p:nvSpPr>
        <p:spPr>
          <a:xfrm>
            <a:off x="777240" y="15087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Dependent inner loop</a:t>
            </a:r>
            <a:endParaRPr lang="en-US" sz="2000" dirty="0"/>
          </a:p>
        </p:txBody>
      </p:sp>
      <p:sp>
        <p:nvSpPr>
          <p:cNvPr id="5" name="code col 1 box"/>
          <p:cNvSpPr/>
          <p:nvPr/>
        </p:nvSpPr>
        <p:spPr>
          <a:xfrm>
            <a:off x="777240" y="2057400"/>
            <a:ext cx="3474720" cy="1051560"/>
          </a:xfrm>
          <a:prstGeom prst="roundRect">
            <a:avLst>
              <a:gd name="adj" fmla="val 869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code col 1"/>
          <p:cNvSpPr txBox="1"/>
          <p:nvPr/>
        </p:nvSpPr>
        <p:spPr>
          <a:xfrm>
            <a:off x="960120" y="214884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 = 0; i &lt; n; i++)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(j = 0; j &lt; i; j++)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work();</a:t>
            </a:r>
            <a:endParaRPr lang="en-US" sz="1400" dirty="0"/>
          </a:p>
        </p:txBody>
      </p:sp>
      <p:sp>
        <p:nvSpPr>
          <p:cNvPr id="7" name="math 1"/>
          <p:cNvSpPr txBox="1"/>
          <p:nvPr/>
        </p:nvSpPr>
        <p:spPr>
          <a:xfrm>
            <a:off x="777240" y="32461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0 + 1 + … + (n−1) = n(n−1)/2</a:t>
            </a:r>
            <a:endParaRPr lang="en-US" sz="1600" dirty="0"/>
          </a:p>
        </p:txBody>
      </p:sp>
      <p:sp>
        <p:nvSpPr>
          <p:cNvPr id="8" name="badge 1"/>
          <p:cNvSpPr/>
          <p:nvPr/>
        </p:nvSpPr>
        <p:spPr>
          <a:xfrm>
            <a:off x="777240" y="3794760"/>
            <a:ext cx="1554480" cy="54864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badge label 1"/>
          <p:cNvSpPr txBox="1"/>
          <p:nvPr/>
        </p:nvSpPr>
        <p:spPr>
          <a:xfrm>
            <a:off x="777240" y="37947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O(n²)</a:t>
            </a:r>
            <a:endParaRPr lang="en-US" sz="1800" dirty="0"/>
          </a:p>
        </p:txBody>
      </p:sp>
      <p:sp>
        <p:nvSpPr>
          <p:cNvPr id="10" name="column card 2"/>
          <p:cNvSpPr/>
          <p:nvPr/>
        </p:nvSpPr>
        <p:spPr>
          <a:xfrm>
            <a:off x="4663440" y="1371600"/>
            <a:ext cx="3931920" cy="320040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column head 2"/>
          <p:cNvSpPr txBox="1"/>
          <p:nvPr/>
        </p:nvSpPr>
        <p:spPr>
          <a:xfrm>
            <a:off x="4892040" y="15087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Consecutive loops</a:t>
            </a:r>
            <a:endParaRPr lang="en-US" sz="2000" dirty="0"/>
          </a:p>
        </p:txBody>
      </p:sp>
      <p:sp>
        <p:nvSpPr>
          <p:cNvPr id="12" name="code col 2 box"/>
          <p:cNvSpPr/>
          <p:nvPr/>
        </p:nvSpPr>
        <p:spPr>
          <a:xfrm>
            <a:off x="4892040" y="2057400"/>
            <a:ext cx="3474720" cy="1051560"/>
          </a:xfrm>
          <a:prstGeom prst="roundRect">
            <a:avLst>
              <a:gd name="adj" fmla="val 869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code col 2"/>
          <p:cNvSpPr txBox="1"/>
          <p:nvPr/>
        </p:nvSpPr>
        <p:spPr>
          <a:xfrm>
            <a:off x="5074920" y="214884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 = 0; i &lt; n; i++) A();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(j = 0; j &lt; m; j++) B();</a:t>
            </a:r>
            <a:endParaRPr lang="en-US" sz="1400" dirty="0"/>
          </a:p>
        </p:txBody>
      </p:sp>
      <p:sp>
        <p:nvSpPr>
          <p:cNvPr id="14" name="math 2"/>
          <p:cNvSpPr txBox="1"/>
          <p:nvPr/>
        </p:nvSpPr>
        <p:spPr>
          <a:xfrm>
            <a:off x="4892040" y="32461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Costs add: n + m</a:t>
            </a:r>
            <a:endParaRPr lang="en-US" sz="1600" dirty="0"/>
          </a:p>
        </p:txBody>
      </p:sp>
      <p:sp>
        <p:nvSpPr>
          <p:cNvPr id="15" name="badge 2"/>
          <p:cNvSpPr/>
          <p:nvPr/>
        </p:nvSpPr>
        <p:spPr>
          <a:xfrm>
            <a:off x="4892040" y="3794760"/>
            <a:ext cx="1554480" cy="548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badge label 2"/>
          <p:cNvSpPr txBox="1"/>
          <p:nvPr/>
        </p:nvSpPr>
        <p:spPr>
          <a:xfrm>
            <a:off x="4892040" y="37947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 + m)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How Fast Do They Grow?</a:t>
            </a:r>
            <a:endParaRPr lang="en-US" sz="3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280160"/>
          <a:ext cx="539496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llout card"/>
          <p:cNvSpPr/>
          <p:nvPr/>
        </p:nvSpPr>
        <p:spPr>
          <a:xfrm>
            <a:off x="6126480" y="1371600"/>
            <a:ext cx="2560320" cy="3108960"/>
          </a:xfrm>
          <a:prstGeom prst="roundRect">
            <a:avLst>
              <a:gd name="adj" fmla="val 357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callout value"/>
          <p:cNvSpPr txBox="1"/>
          <p:nvPr/>
        </p:nvSpPr>
        <p:spPr>
          <a:xfrm>
            <a:off x="6126480" y="1600200"/>
            <a:ext cx="2560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10¹²</a:t>
            </a:r>
            <a:endParaRPr lang="en-US" sz="4400" dirty="0"/>
          </a:p>
        </p:txBody>
      </p:sp>
      <p:sp>
        <p:nvSpPr>
          <p:cNvPr id="6" name="callout label"/>
          <p:cNvSpPr txBox="1"/>
          <p:nvPr/>
        </p:nvSpPr>
        <p:spPr>
          <a:xfrm>
            <a:off x="6309360" y="3174797"/>
            <a:ext cx="21945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operations for O(n²) at n = 1,000,000: about 17 minutes at 10⁹ ops/sec, versus 1 ms for O(n)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Key Takeaways</a:t>
            </a:r>
            <a:endParaRPr lang="en-US" sz="3400" dirty="0"/>
          </a:p>
        </p:txBody>
      </p:sp>
      <p:graphicFrame>
        <p:nvGraphicFramePr>
          <p:cNvPr id="9" name="patter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484632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7373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Loop pattern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B8A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B8A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loop, i++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1F5F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O(n)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nested loops to 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1F5F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O(n²)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*= 2 or i /= 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1F5F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O(log n)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passes × log n inner work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1F5F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O(n log n)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Consecutive loops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1F5F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O(n + m)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4" name="tip circle 1"/>
          <p:cNvSpPr/>
          <p:nvPr/>
        </p:nvSpPr>
        <p:spPr>
          <a:xfrm>
            <a:off x="5760720" y="14173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9592" y="1536192"/>
            <a:ext cx="219456" cy="219456"/>
          </a:xfrm>
          <a:prstGeom prst="rect">
            <a:avLst/>
          </a:prstGeom>
        </p:spPr>
      </p:pic>
      <p:sp>
        <p:nvSpPr>
          <p:cNvPr id="6" name="tip 1"/>
          <p:cNvSpPr txBox="1"/>
          <p:nvPr/>
        </p:nvSpPr>
        <p:spPr>
          <a:xfrm>
            <a:off x="6400800" y="13258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Count how often the body runs</a:t>
            </a:r>
            <a:endParaRPr lang="en-US" sz="1600" dirty="0"/>
          </a:p>
        </p:txBody>
      </p:sp>
      <p:sp>
        <p:nvSpPr>
          <p:cNvPr id="7" name="tip circle 2"/>
          <p:cNvSpPr/>
          <p:nvPr/>
        </p:nvSpPr>
        <p:spPr>
          <a:xfrm>
            <a:off x="5760720" y="23774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Image 1" descr="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9592" y="2496312"/>
            <a:ext cx="219456" cy="219456"/>
          </a:xfrm>
          <a:prstGeom prst="rect">
            <a:avLst/>
          </a:prstGeom>
        </p:spPr>
      </p:pic>
      <p:sp>
        <p:nvSpPr>
          <p:cNvPr id="9" name="tip 2"/>
          <p:cNvSpPr txBox="1"/>
          <p:nvPr/>
        </p:nvSpPr>
        <p:spPr>
          <a:xfrm>
            <a:off x="6400800" y="22860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Multiply nested, add consecutive</a:t>
            </a:r>
            <a:endParaRPr lang="en-US" sz="1600" dirty="0"/>
          </a:p>
        </p:txBody>
      </p:sp>
      <p:sp>
        <p:nvSpPr>
          <p:cNvPr id="10" name="tip circle 3"/>
          <p:cNvSpPr/>
          <p:nvPr/>
        </p:nvSpPr>
        <p:spPr>
          <a:xfrm>
            <a:off x="5760720" y="33375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mage 2" descr="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9592" y="3456432"/>
            <a:ext cx="219456" cy="219456"/>
          </a:xfrm>
          <a:prstGeom prst="rect">
            <a:avLst/>
          </a:prstGeom>
        </p:spPr>
      </p:pic>
      <p:sp>
        <p:nvSpPr>
          <p:cNvPr id="12" name="tip 3"/>
          <p:cNvSpPr txBox="1"/>
          <p:nvPr/>
        </p:nvSpPr>
        <p:spPr>
          <a:xfrm>
            <a:off x="6400800" y="32461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Keep the dominant term, drop constants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oop Complexity">
  <a:themeElements>
    <a:clrScheme name="Loop Complexity">
      <a:dk1>
        <a:srgbClr val="0F172A"/>
      </a:dk1>
      <a:lt1>
        <a:srgbClr val="FFFFFF"/>
      </a:lt1>
      <a:dk2>
        <a:srgbClr val="1E293B"/>
      </a:dk2>
      <a:lt2>
        <a:srgbClr val="F1F5F9"/>
      </a:lt2>
      <a:accent1>
        <a:srgbClr val="14B8A6"/>
      </a:accent1>
      <a:accent2>
        <a:srgbClr val="F59E0B"/>
      </a:accent2>
      <a:accent3>
        <a:srgbClr val="6366F1"/>
      </a:accent3>
      <a:accent4>
        <a:srgbClr val="EF4444"/>
      </a:accent4>
      <a:accent5>
        <a:srgbClr val="22C55E"/>
      </a:accent5>
      <a:accent6>
        <a:srgbClr val="94A3B8"/>
      </a:accent6>
      <a:hlink>
        <a:srgbClr val="14B8A6"/>
      </a:hlink>
      <a:folHlink>
        <a:srgbClr val="94A3B8"/>
      </a:folHlink>
    </a:clrScheme>
    <a:fontScheme name="Loop Complexit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Time Complexity Analysis of Loops in Programming</dc:title>
  <dc:subject>PptxGenJS Presentation</dc:subject>
  <dc:creator>PptxGenJS</dc:creator>
  <cp:lastModifiedBy>PptxGenJS</cp:lastModifiedBy>
  <cp:revision>1</cp:revision>
  <dcterms:created xsi:type="dcterms:W3CDTF">2026-10-20T15:29:13Z</dcterms:created>
  <dcterms:modified xsi:type="dcterms:W3CDTF">2026-10-20T15:29:13Z</dcterms:modified>
</cp:coreProperties>
</file>